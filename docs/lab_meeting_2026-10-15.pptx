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111111"/>
                </a:solidFill>
                <a:latin typeface="+mn-lt"/>
              </a:rPr>
              <a:t>Feedback torque vs position error (kp 0.4 N·m/rad, deadband ±2°, limit 0.06 N·m)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Feedback torque</c:v>
                </c:pt>
              </c:strCache>
            </c:strRef>
          </c:tx>
          <c:spPr>
            <a:solidFill>
              <a:srgbClr val="C53030"/>
            </a:solidFill>
            <a:ln w="31750" cap="flat">
              <a:solidFill>
                <a:srgbClr val="C53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53030"/>
              </a:solidFill>
              <a:ln w="9525" cap="flat">
                <a:solidFill>
                  <a:srgbClr val="C53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Sheet1!$A$2:$A$62</c:f>
              <c:multiLvlStrCache>
                <c:ptCount val="61"/>
                <c:lvl>
                  <c:pt idx="0">
                    <c:v>-30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-20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-10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30</c:v>
                  </c:pt>
                </c:lvl>
              </c:multiLvlStrCache>
            </c:multiLvl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60</c:v>
                </c:pt>
                <c:pt idx="14">
                  <c:v>60</c:v>
                </c:pt>
                <c:pt idx="15">
                  <c:v>60</c:v>
                </c:pt>
                <c:pt idx="16">
                  <c:v>60</c:v>
                </c:pt>
                <c:pt idx="17">
                  <c:v>60</c:v>
                </c:pt>
                <c:pt idx="18">
                  <c:v>60</c:v>
                </c:pt>
                <c:pt idx="19">
                  <c:v>60</c:v>
                </c:pt>
                <c:pt idx="20">
                  <c:v>55.850536063818545</c:v>
                </c:pt>
                <c:pt idx="21">
                  <c:v>48.86921905584123</c:v>
                </c:pt>
                <c:pt idx="22">
                  <c:v>41.88790204786391</c:v>
                </c:pt>
                <c:pt idx="23">
                  <c:v>34.90658503988659</c:v>
                </c:pt>
                <c:pt idx="24">
                  <c:v>27.925268031909273</c:v>
                </c:pt>
                <c:pt idx="25">
                  <c:v>20.943951023931955</c:v>
                </c:pt>
                <c:pt idx="26">
                  <c:v>13.962634015954636</c:v>
                </c:pt>
                <c:pt idx="27">
                  <c:v>6.981317007977318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-6.981317007977318</c:v>
                </c:pt>
                <c:pt idx="34">
                  <c:v>-13.962634015954636</c:v>
                </c:pt>
                <c:pt idx="35">
                  <c:v>-20.943951023931955</c:v>
                </c:pt>
                <c:pt idx="36">
                  <c:v>-27.925268031909273</c:v>
                </c:pt>
                <c:pt idx="37">
                  <c:v>-34.90658503988659</c:v>
                </c:pt>
                <c:pt idx="38">
                  <c:v>-41.88790204786391</c:v>
                </c:pt>
                <c:pt idx="39">
                  <c:v>-48.86921905584123</c:v>
                </c:pt>
                <c:pt idx="40">
                  <c:v>-55.850536063818545</c:v>
                </c:pt>
                <c:pt idx="41">
                  <c:v>-60</c:v>
                </c:pt>
                <c:pt idx="42">
                  <c:v>-60</c:v>
                </c:pt>
                <c:pt idx="43">
                  <c:v>-60</c:v>
                </c:pt>
                <c:pt idx="44">
                  <c:v>-60</c:v>
                </c:pt>
                <c:pt idx="45">
                  <c:v>-60</c:v>
                </c:pt>
                <c:pt idx="46">
                  <c:v>-60</c:v>
                </c:pt>
                <c:pt idx="47">
                  <c:v>-60</c:v>
                </c:pt>
                <c:pt idx="48">
                  <c:v>-60</c:v>
                </c:pt>
                <c:pt idx="49">
                  <c:v>-60</c:v>
                </c:pt>
                <c:pt idx="50">
                  <c:v>-60</c:v>
                </c:pt>
                <c:pt idx="51">
                  <c:v>-60</c:v>
                </c:pt>
                <c:pt idx="52">
                  <c:v>-60</c:v>
                </c:pt>
                <c:pt idx="53">
                  <c:v>-60</c:v>
                </c:pt>
                <c:pt idx="54">
                  <c:v>-60</c:v>
                </c:pt>
                <c:pt idx="55">
                  <c:v>-60</c:v>
                </c:pt>
                <c:pt idx="56">
                  <c:v>-60</c:v>
                </c:pt>
                <c:pt idx="57">
                  <c:v>-60</c:v>
                </c:pt>
                <c:pt idx="58">
                  <c:v>-60</c:v>
                </c:pt>
                <c:pt idx="59">
                  <c:v>-60</c:v>
                </c:pt>
                <c:pt idx="60">
                  <c:v>-60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7A7A7A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7A7A7A"/>
                    </a:solidFill>
                    <a:latin typeface="+mn-lt"/>
                  </a:rPr>
                  <a:t>e = q_leader − q_follower (deg)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A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-75"/>
        </c:scaling>
        <c:delete val="0"/>
        <c:axPos val="l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7A7A7A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7A7A7A"/>
                    </a:solidFill>
                    <a:latin typeface="+mn-lt"/>
                  </a:rPr>
                  <a:t>torque (mN·m)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A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一句话：一只按人手设计的手套，和一只完全相同的机械手，关节一一对应、带力反馈。今天讲三件事：为什么要机器人在环、我们做了什么、记录下来的力和刚度怎么用。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全片的论点。无本体采集记录的是人在自己闭环下的运动学轨迹（state）；策略部署需要的是机器人本体的动作（action）：力、柔顺、执行器动力学、可行性，这些只有机器人在环时才会被记录。证据：DITTO 手持数据在"抓住并抬起"阶段 0%，加 10 条遥操作数据升到 70%；ForceMimic 把力加进动作相对提升 54.5%；ACP（UMI 作者同组）指出位置控制策略忽略柔顺。由此引出四条要求，后面每篇论文都用这张卡打分。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两条轨：上面是遥操作（机器人在环），下面是演示采集（没有机器人）。颜色是手套带了什么：只有运动传感、带触觉皮肤、带力/触觉反馈、以及按某只机械手设计的外骨骼。这页只讲一句：两条轨到 2025–2026 年在外骨骼上汇合了，MILE 和 DITTO 已经做了同构的主从对，MILE 没有电机、DITTO 只有两根手指，我们在它们中间：四指、有电机。条目都核实过（arXiv 号在大纲里）。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UMI 的贡献是让无本体数据能直接训练出可部署的策略，而不是"开创了无机器人采集"（2020 年就有 Grasping in the Wild）。做法：采集设备和机器人末端长得一样，腕部 155° 鱼眼相机加侧面镜子，延迟匹配加相对轨迹动作，所以数据能跨机器人部署。局限：平行夹爪；只采 state；采集时不知道机器人运动学是否可行，只能事后过滤。过渡：夹爪做不了灵巧操作，换成手会怎样？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左：DexUMI 是"机器人优先"，外骨骼按商用手的指尖工作空间优化，用编码器读关节角，再用 SAM2 和 ProPainter 把机器人手贴回图像，平均成功率 86%。但每只手要单独调参，人手力比机器人大所以触觉读数会漂移，渲染仍需真机。右：ART-Glove 是"人手优先"，22 个解剖关节全部编码器测量，2048 触点，但没有机器人、没有策略结果；作者未来工作要做"按手套几何的驱动手"，正是我们的路线。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DITTO：主从运动学等价，拇指 4 加食指 3 共 7 自由度，1:1 电机映射，用从手电流算关节级力反馈，200 Hz；有力反馈时用户接触力约减半（6.9 N 对 13.0 N）；手持数据 0% 对加 10 条遥操作 70%。DITTO-X：为通用性放弃同构，一个外骨骼驱动 Sharpa、Wuji、Inspire；食指中指 1:1，拇指任务空间重定向，力用雅可比伪逆估计；力反馈加振动才有 86.1% 的物体大小辨识率，去掉任一通道 61.1%；反向遥操作接管 78.3% 对 Manus 27.7%。老师读过这篇，我们的差异必须讲成：同构做到 4 指 13 自由度、拇指完整、主从一起设计。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对比表后，讲通用性与保真度的取舍轴：DITTO-X 在通用那端，我们在同构那端。同构的四个好处：力反馈关节对关节、不用估计不用重定向；反向遥操作直接写关节角、不用逆运动学；仿真孪生就是机器人本身；采到的数据不需要重定向。代价：机械手要自己造，机器人手运动学被人手约束。类比 GELLO、HOMIE 的同构主臂。最接近的工作是 MILE（上海交大，2025-11）：先按人手设计 17 自由度的外骨骼，再按外骨骼做机械手，关节一一对应、不用重定向，指尖有视触觉，四任务 76% 对手套基线 28%。但 MILE 的外骨骼是纯编码器的、被动的，论文自己写了"不向操作者提供任何主动力或触觉反馈"，并把它列为未来工作。我们的手套里有电机，所以多了双边力反馈，而且刚度可以当动作。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四个约束：关节轴藏在手掌里（MCP 轴在皮肤下面，电机放不到轴上）；拇指扫过的范围很大（从张开到对掌，要 4 个关节）；手指之间没有空间（三个模块并排，连杆和电机不能互相碰）；手的尺寸差别大（DexEXO 按 140–217 mm 的手长设计；我们现在只有一个尺寸，这是局限）。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布局：拇指 4（CMC 侧摆、CMC 弯曲、MCP 弯曲、IP），食指、中指、无名指各 3（MCP 弯曲、MCP 侧摆、PIP），没有小指。中指 MCP 用双平行四边形做出虚拟转轴，电机不在转轴上，这是"按人手关节轴设计"的证据。远端 4 个关节用 77.5:1 的 XL330-M077 便于反拖，其余 288:1。OpenRB-150，1 Mbps，6 V，约 220 Hz。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先放视频再讲参数。链路：Onshape 自动导出 URDF 和 MuJoCo，13 个电机标定完成。控制律：e = q_leader − q_follower，τ = −kp(|e| − 死区)·sign(e)，kp 0.4 N·m/rad，死区 ±2°，单关节上限 0.06 N·m（DITTO 0.08），只在接触时出力、只往外推，13 路电流总和有上限，约 220 Hz（DITTO 200 Hz）。视频 1：手套驱动 MuJoCo 虚拟手抓积木，碰到积木时人捏不下去，虚拟手抓起 7.8 cm。视频 2：两只手套，从手被挡住，主手被往回推。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重点页。记录：q*（主手指令）、q（从手结果）、τ（从手电流 × Kt = 接触力矩）、I（渲染给人的电流）、K_t（从手当周期的刚度）。方法 1 力作观测：策略输入多一项 τ，部署时同一只手的电流同样可得。方法 2 力作动作：策略输出 (q*, τ*)，底层混合位置/力控制，Goal Current 当动作。方法 3 阻抗作动作：策略输出 (q*, K_t)，底层阻抗控制 τ = K(q* − q) + D(q̇* − q̇)；标签 K_t = f(τ_t)：力大就软、空中就硬（ACP 规则）；XL330 的 P、D 增益通电可改写，所以 (q*, Kp, Kd, 电流上限) 可整组作为动作。实测（食指 MCP，捏纸杯）：Kp 150 时刚度 0.14 N·m/rad、最大夹持力矩 25 mN·m；Kp 600 时 0.58 N·m/rad、57 mN·m，斜率比 4.1 对 Kp 比 4.0，K ≈ Kp/1030。自适应那段接触电流升到 100 mA 时 Kp 从 600 降到 380，规则跑通。同一个位置指令下机器人出多大力由 K 决定，所以 K 要进动作。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用小卡讲那个半圆：机械手还没造，力反馈来自仿真或第二只手套；没有用户实验和策略结果；没有指尖振动（DITTO-X 消融说两个通道都需要）；没有小指，手套只有一个尺寸；288:1 的反拖阻力要量化（DITTO 特意选 181:1）；6 V 略超 XL330 规格，拇指 MCP 那个 12 V 电机欠压运行。下一步：造机械手 → 量化并补偿反拖 → 方法 1 到 3 逐级验证 → 用户实验 → 反向遥操作和 DAgger。讨论题：减速比怎么选、拇指几个自由度、要不要兼顾非同构的手。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0"/>
          </a:xfrm>
          <a:prstGeom prst="line">
            <a:avLst/>
          </a:prstGeom>
          <a:noFill/>
          <a:ln w="25400">
            <a:solidFill>
              <a:srgbClr val="0B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651760" cy="566928"/>
          </a:xfrm>
          <a:prstGeom prst="rect">
            <a:avLst/>
          </a:prstGeom>
          <a:solidFill>
            <a:srgbClr val="0B3C6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1695" cy="0"/>
          </a:xfrm>
          <a:prstGeom prst="line">
            <a:avLst/>
          </a:prstGeom>
          <a:noFill/>
          <a:ln w="25400">
            <a:solidFill>
              <a:srgbClr val="0B3C6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0"/>
          </a:xfrm>
          <a:prstGeom prst="line">
            <a:avLst/>
          </a:prstGeom>
          <a:noFill/>
          <a:ln w="25400">
            <a:solidFill>
              <a:srgbClr val="0B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21424"/>
            <a:ext cx="12191695" cy="0"/>
          </a:xfrm>
          <a:prstGeom prst="line">
            <a:avLst/>
          </a:prstGeom>
          <a:noFill/>
          <a:ln w="25400">
            <a:solidFill>
              <a:srgbClr val="0B3C6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6E"/>
                </a:solidFill>
              </a:rPr>
              <a:t>LAB MEETING · 15 OCTOBER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68680"/>
            <a:ext cx="11338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</a:rPr>
              <a:t>An Isomorphic Force-Feedback Glove–Hand Pair for Dexterous Teleoperation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A7A"/>
                </a:solidFill>
              </a:rPr>
              <a:t>13 motor joints, joint-to-joint bilateral control, and what it lets us record for policy learning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Pengfei Ye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HKUST / MIT CSAIL · ongoing work with E. Adelson</a:t>
            </a:r>
            <a:endParaRPr lang="en-US" sz="1600" dirty="0"/>
          </a:p>
        </p:txBody>
      </p:sp>
      <p:pic>
        <p:nvPicPr>
          <p:cNvPr id="7" name="Image 0" descr="/home/ypf/motor_glove/docs/figs/ppt/cad_palm_obliq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749040"/>
            <a:ext cx="3657600" cy="2743200"/>
          </a:xfrm>
          <a:prstGeom prst="rect">
            <a:avLst/>
          </a:prstGeom>
        </p:spPr>
      </p:pic>
      <p:pic>
        <p:nvPicPr>
          <p:cNvPr id="8" name="Image 1" descr="/home/ypf/motor_glove/docs/figs/skeleton_zero_palm_fro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3749040"/>
            <a:ext cx="3657600" cy="2743200"/>
          </a:xfrm>
          <a:prstGeom prst="rect">
            <a:avLst/>
          </a:prstGeom>
        </p:spPr>
      </p:pic>
      <p:pic>
        <p:nvPicPr>
          <p:cNvPr id="9" name="Image 2" descr="/home/ypf/motor_glove/docs/figs/ppt/sim_grasp_hol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9872" y="374904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Motivation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Handheld devices record what the human did, not what the robot must do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UMI-style collection has no motor in the loop: gripper width stops at contact, grasp force is never recorded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8745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STATE IS NOT ACTION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2402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A policy needs robot actions: force, compliance, actuator dynamics, feasibility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Human-held demos capture the human's closed loop, not the robot's actuators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333333"/>
                </a:solidFill>
              </a:rPr>
              <a:t>DITTO: handheld-only data → 0 % at "hold and lift"; +10 teleop episodes → 70 %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ForceMimic: force in the action → +54.5 % relative over vision-only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ACP (UMI's own group): compliance is ignored by position-only visuomotor policies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UMI: kinematic feasibility unknown at collection time, filtered afterwards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4754880"/>
            <a:ext cx="1645920" cy="86868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4809744"/>
            <a:ext cx="1645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0 % → 70 %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84632" y="5206594"/>
            <a:ext cx="149961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DITTO: handheld only vs +10 teleop episodes (hold &amp; lift)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94560" y="4754880"/>
            <a:ext cx="1645920" cy="86868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94560" y="4809744"/>
            <a:ext cx="1645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+54.5 %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267712" y="5206594"/>
            <a:ext cx="149961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ForceMimic: force as action vs vision-only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77640" y="4754880"/>
            <a:ext cx="1645920" cy="86868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77640" y="4809744"/>
            <a:ext cx="1645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13 × 220 Hz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050792" y="5206594"/>
            <a:ext cx="149961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what our pair logs: q*, q, τ, I, K per joint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187452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FOUR REQUIREMENTS FOR GOOD DEXTEROUS DATA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27848" y="2331720"/>
            <a:ext cx="512064" cy="384048"/>
          </a:xfrm>
          <a:prstGeom prst="rect">
            <a:avLst/>
          </a:prstGeom>
          <a:solidFill>
            <a:srgbClr val="EDEE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0956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</a:rPr>
              <a:t>UMI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476488" y="2331720"/>
            <a:ext cx="512064" cy="384048"/>
          </a:xfrm>
          <a:prstGeom prst="rect">
            <a:avLst/>
          </a:prstGeom>
          <a:solidFill>
            <a:srgbClr val="EDEE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</a:rPr>
              <a:t>DexUMI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25128" y="2331720"/>
            <a:ext cx="512064" cy="384048"/>
          </a:xfrm>
          <a:prstGeom prst="rect">
            <a:avLst/>
          </a:prstGeom>
          <a:solidFill>
            <a:srgbClr val="EDEE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0684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</a:rPr>
              <a:t>ART-Glove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573768" y="2331720"/>
            <a:ext cx="512064" cy="384048"/>
          </a:xfrm>
          <a:prstGeom prst="rect">
            <a:avLst/>
          </a:prstGeom>
          <a:solidFill>
            <a:srgbClr val="EDEE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5548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</a:rPr>
              <a:t>MILE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0122408" y="2331720"/>
            <a:ext cx="512064" cy="384048"/>
          </a:xfrm>
          <a:prstGeom prst="rect">
            <a:avLst/>
          </a:prstGeom>
          <a:solidFill>
            <a:srgbClr val="EDEE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10412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</a:rPr>
              <a:t>DITTO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0671048" y="2331720"/>
            <a:ext cx="512064" cy="384048"/>
          </a:xfrm>
          <a:prstGeom prst="rect">
            <a:avLst/>
          </a:prstGeom>
          <a:solidFill>
            <a:srgbClr val="EDEE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65276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</a:rPr>
              <a:t>DITTO-X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1219688" y="2331720"/>
            <a:ext cx="512064" cy="384048"/>
          </a:xfrm>
          <a:prstGeom prst="rect">
            <a:avLst/>
          </a:prstGeom>
          <a:solidFill>
            <a:srgbClr val="1A73C7"/>
          </a:solidFill>
          <a:ln w="12700">
            <a:solidFill>
              <a:srgbClr val="1A73C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120140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Ours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989320" y="2752344"/>
            <a:ext cx="580644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53328" y="27889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① Dexterous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</a:rPr>
              <a:t>enough independent DoF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046720" y="2944368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4672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✗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8595360" y="294436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595360" y="2944368"/>
            <a:ext cx="274320" cy="27432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44000" y="2944368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14400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9692640" y="2944368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69264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10241280" y="294436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241280" y="2944368"/>
            <a:ext cx="274320" cy="27432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789920" y="294436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789920" y="2944368"/>
            <a:ext cx="274320" cy="27432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338560" y="2944368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33856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48" name="Text 45"/>
          <p:cNvSpPr txBox="1"/>
          <p:nvPr/>
        </p:nvSpPr>
        <p:spPr>
          <a:xfrm>
            <a:off x="6053328" y="35021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② No embodiment gap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</a:rPr>
              <a:t>human motion runs 1:1 on the robot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046720" y="3657600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0467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51" name="Shape 48"/>
          <p:cNvSpPr/>
          <p:nvPr/>
        </p:nvSpPr>
        <p:spPr>
          <a:xfrm>
            <a:off x="8595360" y="36576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595360" y="3657600"/>
            <a:ext cx="274320" cy="27432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144000" y="365760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440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✗</a:t>
            </a:r>
            <a:endParaRPr lang="en-US" sz="1080" dirty="0"/>
          </a:p>
        </p:txBody>
      </p:sp>
      <p:sp>
        <p:nvSpPr>
          <p:cNvPr id="55" name="Shape 52"/>
          <p:cNvSpPr/>
          <p:nvPr/>
        </p:nvSpPr>
        <p:spPr>
          <a:xfrm>
            <a:off x="9692640" y="3657600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6926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57" name="Shape 54"/>
          <p:cNvSpPr/>
          <p:nvPr/>
        </p:nvSpPr>
        <p:spPr>
          <a:xfrm>
            <a:off x="10241280" y="3657600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2412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59" name="Shape 56"/>
          <p:cNvSpPr/>
          <p:nvPr/>
        </p:nvSpPr>
        <p:spPr>
          <a:xfrm>
            <a:off x="10789920" y="36576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789920" y="3657600"/>
            <a:ext cx="274320" cy="27432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1338560" y="3657600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13385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63" name="Shape 60"/>
          <p:cNvSpPr/>
          <p:nvPr/>
        </p:nvSpPr>
        <p:spPr>
          <a:xfrm>
            <a:off x="5989320" y="4178808"/>
            <a:ext cx="580644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053328" y="42153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③ Operator feels contact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</a:rPr>
              <a:t>real or rendered force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8046720" y="4370832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04672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67" name="Shape 64"/>
          <p:cNvSpPr/>
          <p:nvPr/>
        </p:nvSpPr>
        <p:spPr>
          <a:xfrm>
            <a:off x="8595360" y="4370832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59536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69" name="Shape 66"/>
          <p:cNvSpPr/>
          <p:nvPr/>
        </p:nvSpPr>
        <p:spPr>
          <a:xfrm>
            <a:off x="9144000" y="4370832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14400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71" name="Shape 68"/>
          <p:cNvSpPr/>
          <p:nvPr/>
        </p:nvSpPr>
        <p:spPr>
          <a:xfrm>
            <a:off x="9692640" y="4370832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69264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✗</a:t>
            </a:r>
            <a:endParaRPr lang="en-US" sz="1080" dirty="0"/>
          </a:p>
        </p:txBody>
      </p:sp>
      <p:sp>
        <p:nvSpPr>
          <p:cNvPr id="73" name="Shape 70"/>
          <p:cNvSpPr/>
          <p:nvPr/>
        </p:nvSpPr>
        <p:spPr>
          <a:xfrm>
            <a:off x="10241280" y="4370832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24128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75" name="Shape 72"/>
          <p:cNvSpPr/>
          <p:nvPr/>
        </p:nvSpPr>
        <p:spPr>
          <a:xfrm>
            <a:off x="10789920" y="4370832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78992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77" name="Shape 74"/>
          <p:cNvSpPr/>
          <p:nvPr/>
        </p:nvSpPr>
        <p:spPr>
          <a:xfrm>
            <a:off x="11338560" y="4370832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1133856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79" name="Text 76"/>
          <p:cNvSpPr txBox="1"/>
          <p:nvPr/>
        </p:nvSpPr>
        <p:spPr>
          <a:xfrm>
            <a:off x="6053328" y="492861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④ Robot in the loop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</a:rPr>
              <a:t>takeover, DAgger, actuator dynamics</a:t>
            </a:r>
            <a:endParaRPr lang="en-US" sz="1050" dirty="0"/>
          </a:p>
        </p:txBody>
      </p:sp>
      <p:sp>
        <p:nvSpPr>
          <p:cNvPr id="80" name="Shape 77"/>
          <p:cNvSpPr/>
          <p:nvPr/>
        </p:nvSpPr>
        <p:spPr>
          <a:xfrm>
            <a:off x="8046720" y="5084064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804672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✗</a:t>
            </a:r>
            <a:endParaRPr lang="en-US" sz="1080" dirty="0"/>
          </a:p>
        </p:txBody>
      </p:sp>
      <p:sp>
        <p:nvSpPr>
          <p:cNvPr id="82" name="Shape 79"/>
          <p:cNvSpPr/>
          <p:nvPr/>
        </p:nvSpPr>
        <p:spPr>
          <a:xfrm>
            <a:off x="8595360" y="5084064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859536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✗</a:t>
            </a:r>
            <a:endParaRPr lang="en-US" sz="1080" dirty="0"/>
          </a:p>
        </p:txBody>
      </p:sp>
      <p:sp>
        <p:nvSpPr>
          <p:cNvPr id="84" name="Shape 81"/>
          <p:cNvSpPr/>
          <p:nvPr/>
        </p:nvSpPr>
        <p:spPr>
          <a:xfrm>
            <a:off x="9144000" y="5084064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14400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✗</a:t>
            </a:r>
            <a:endParaRPr lang="en-US" sz="1080" dirty="0"/>
          </a:p>
        </p:txBody>
      </p:sp>
      <p:sp>
        <p:nvSpPr>
          <p:cNvPr id="86" name="Shape 83"/>
          <p:cNvSpPr/>
          <p:nvPr/>
        </p:nvSpPr>
        <p:spPr>
          <a:xfrm>
            <a:off x="9692640" y="5084064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969264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88" name="Shape 85"/>
          <p:cNvSpPr/>
          <p:nvPr/>
        </p:nvSpPr>
        <p:spPr>
          <a:xfrm>
            <a:off x="10241280" y="5084064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1024128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90" name="Shape 87"/>
          <p:cNvSpPr/>
          <p:nvPr/>
        </p:nvSpPr>
        <p:spPr>
          <a:xfrm>
            <a:off x="10789920" y="5084064"/>
            <a:ext cx="274320" cy="2743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1078992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✓</a:t>
            </a:r>
            <a:endParaRPr lang="en-US" sz="1080" dirty="0"/>
          </a:p>
        </p:txBody>
      </p:sp>
      <p:sp>
        <p:nvSpPr>
          <p:cNvPr id="92" name="Shape 89"/>
          <p:cNvSpPr/>
          <p:nvPr/>
        </p:nvSpPr>
        <p:spPr>
          <a:xfrm>
            <a:off x="11338560" y="5084064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1338560" y="5084064"/>
            <a:ext cx="274320" cy="27432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The scorecard returns on every paper slide and on our limitations slide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Motivation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Forty years of data gloves: from input devices to linkages, motors and tactile skins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Top: teleoperation (robot in the loop). Bottom: demonstration capture (no robot). Colour = what the glove carries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2103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5681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1988–2002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23500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Dexterous HandMaster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A. D. Little, 1988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" y="26974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CyberGrasp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Virtual Technologies, 1999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3044952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3044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Rutgers Master II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Rutgers, 2002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82696" y="2103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19856" y="195681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2022–2024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19856" y="235000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93008" y="23500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NimbRo Avatar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Bonn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19856" y="269748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93008" y="26974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iCub3 avatar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IIT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19856" y="3044952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93008" y="3044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BiDex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CMU, 2024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53912" y="2103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91072" y="195681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2025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91072" y="235000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64224" y="23500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DOGlove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Tsinghua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91072" y="269748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64224" y="26974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HOMIE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Shanghai AI Lab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291072" y="3044952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64224" y="3044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GEX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11-DoF hand + 12-DoF exo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291072" y="3392424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64224" y="339242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MILE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SJTU · isomorphic, passive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025128" y="2103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62288" y="195681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2026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162288" y="235000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35440" y="23500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DITTO / DITTO-X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Columbia · 7 DoF, force feedback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162288" y="269748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235440" y="26974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TAG (Feel Robot Feels)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tactile arrays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9162288" y="3044952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0B3C6E"/>
          </a:solidFill>
          <a:ln w="15875">
            <a:solidFill>
              <a:srgbClr val="0B3C6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35440" y="3044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Our glove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  isomorphic, motors in every joint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41648"/>
            <a:ext cx="11365992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1148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C6E"/>
                </a:solidFill>
              </a:rPr>
              <a:t>▲ Teleoperation (robot in the loop)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8119872" y="40782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3C6E"/>
                </a:solidFill>
              </a:rPr>
              <a:t>▼ Demonstration capture (no robot)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80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433425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1977–1990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48640" y="472744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21792" y="47274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Sayre Glove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UIC, 1977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48640" y="507492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21792" y="50749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DataGlove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VPL, 1987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48640" y="5422392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21792" y="542239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CyberGlove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1990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3282696" y="4480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419856" y="433425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2019–2024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419856" y="472744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0FFF4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93008" y="47274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STAG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MIT, 2019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19856" y="507492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493008" y="50749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DexCap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Stanford, 2024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6153912" y="4480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291072" y="433425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2025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6291072" y="472744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364224" y="47274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DexUMI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Stanford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6291072" y="507492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364224" y="50749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ExoStart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DeepMind · CMU · MIT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291072" y="5422392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364224" y="542239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DEXOP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MIT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291072" y="5769864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0FFF4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364224" y="576986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OSMO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Meta FAIR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9025128" y="4480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D0D3D8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162288" y="4334256"/>
            <a:ext cx="13716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2026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9162288" y="472744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0FFF4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47274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ART-Glove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CMU · 22 DoF, 2048 taxels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9162288" y="507492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235440" y="50749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DexEXO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UCLA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9162288" y="5422392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9235440" y="542239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SEED-UMI</a:t>
            </a:r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  PKU · shared exoskeleton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11480" y="627278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EBF4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40664" y="6217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Motion sensors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2020824" y="627278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F0FFF4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2350008" y="6217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Tactile skin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3493008" y="627278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FFFAF0"/>
          </a:solidFill>
          <a:ln w="15875">
            <a:solidFill>
              <a:srgbClr val="C05621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3822192" y="6217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Haptic / force feedback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5719572" y="627278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15875">
            <a:solidFill>
              <a:srgbClr val="6B46C1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048756" y="6217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Exoskeleton matched to a robot hand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8769096" y="627278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0B3C6E"/>
          </a:solidFill>
          <a:ln w="15875">
            <a:solidFill>
              <a:srgbClr val="0B3C6E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098280" y="6217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Ours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Prior Work · UMI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UMI: make the collection device identical to the robot's end-effector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Same soft gripper on both sides, a wrist camera for observation, and the data deploys across robots</a:t>
            </a:r>
            <a:endParaRPr lang="en-US" sz="1400" dirty="0"/>
          </a:p>
        </p:txBody>
      </p:sp>
      <p:pic>
        <p:nvPicPr>
          <p:cNvPr id="6" name="Image 0" descr="/home/ypf/motor_glove/docs/figs/papers/umi_tea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74520"/>
            <a:ext cx="7315200" cy="24048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14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Chi et al., "Universal Manipulation Interface," arXiv:2402.10329, Fig. 1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4617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INSIGHT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95604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Identical soft gripper on the handheld device and the robot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Wrist GoPro, 155° fisheye + side mirrors: observation aligned with action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Latency matching + relative-trajectory actions → cross-robot deployment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343400" y="46177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495604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Parallel gripper only: no dexterity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State only: grasp force never recorded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Kinematic feasibility unknown at collection time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823960" y="18288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915400" y="1828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UMI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9811512" y="18288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①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994392" y="265176"/>
            <a:ext cx="219456" cy="219456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994392" y="265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✗</a:t>
            </a:r>
            <a:endParaRPr lang="en-US" sz="864" dirty="0"/>
          </a:p>
        </p:txBody>
      </p:sp>
      <p:sp>
        <p:nvSpPr>
          <p:cNvPr id="17" name="Text 13"/>
          <p:cNvSpPr txBox="1"/>
          <p:nvPr/>
        </p:nvSpPr>
        <p:spPr>
          <a:xfrm>
            <a:off x="10296144" y="18288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②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0479024" y="265176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479024" y="265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20" name="Text 16"/>
          <p:cNvSpPr txBox="1"/>
          <p:nvPr/>
        </p:nvSpPr>
        <p:spPr>
          <a:xfrm>
            <a:off x="10780776" y="18288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③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0963656" y="265176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963656" y="265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23" name="Text 19"/>
          <p:cNvSpPr txBox="1"/>
          <p:nvPr/>
        </p:nvSpPr>
        <p:spPr>
          <a:xfrm>
            <a:off x="11265408" y="18288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④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1448288" y="265176"/>
            <a:ext cx="219456" cy="219456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448288" y="265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✗</a:t>
            </a:r>
            <a:endParaRPr lang="en-US" sz="864" dirty="0"/>
          </a:p>
        </p:txBody>
      </p:sp>
      <p:sp>
        <p:nvSpPr>
          <p:cNvPr id="26" name="Shape 22"/>
          <p:cNvSpPr/>
          <p:nvPr/>
        </p:nvSpPr>
        <p:spPr>
          <a:xfrm>
            <a:off x="8138160" y="1874520"/>
            <a:ext cx="1828800" cy="82296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138160" y="1929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$73 + $298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8211312" y="2302459"/>
            <a:ext cx="168249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printed parts + GoPro kit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0058400" y="1874520"/>
            <a:ext cx="1737360" cy="82296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058400" y="19293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3×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10131552" y="2302459"/>
            <a:ext cx="15910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faster than SpaceMouse teleop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138160" y="2788920"/>
            <a:ext cx="3657600" cy="82296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138160" y="28437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71.7 %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8211312" y="3216859"/>
            <a:ext cx="351129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in-the-wild cup task, 30 locations, 1400 demos</a:t>
            </a:r>
            <a:endParaRPr lang="en-US" sz="950" dirty="0"/>
          </a:p>
        </p:txBody>
      </p:sp>
      <p:pic>
        <p:nvPicPr>
          <p:cNvPr id="35" name="Image 1" descr="/home/ypf/motor_glove/docs/figs/papers/umi_hardwa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38160" y="3749040"/>
            <a:ext cx="3657600" cy="107899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13816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UMI hardware (Fig. 2): soft gripper, fisheye camera, mirrors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Transition: a gripper cannot do dexterous tasks. What if we replace it with a hand?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Exoskeletons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DexUMI fits the exoskeleton to a robot hand; ART-Glove fits it to the human hand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Neither has the robot in the loop: the human, not the actuator, bears the contact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8745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DEXUMI: ROBOT-FIRST</a:t>
            </a:r>
            <a:endParaRPr lang="en-US" sz="1400" dirty="0"/>
          </a:p>
        </p:txBody>
      </p:sp>
      <p:pic>
        <p:nvPicPr>
          <p:cNvPr id="7" name="Image 0" descr="/home/ypf/motor_glove/docs/figs/papers/dexumi_tea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212848"/>
            <a:ext cx="5486400" cy="22585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Xu et al., "DexUMI," arXiv:2505.21864, Fig. 1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7548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Hardware adaptation: exoskeleton optimized to the robot's fingertip workspace, joint encoders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Software adaptation: segment the human hand (SAM2), inpaint, render the robot hand back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</a:rPr>
              <a:t>86 % average success on Inspire (6 active) and XHand (12 active)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Authors' limits: per-hand tuning; human force &gt; robot force so tactile drifts; fixed camera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18745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ART-GLOVE: HUMAN-FIRST</a:t>
            </a:r>
            <a:endParaRPr lang="en-US" sz="1400" dirty="0"/>
          </a:p>
        </p:txBody>
      </p:sp>
      <p:pic>
        <p:nvPicPr>
          <p:cNvPr id="11" name="Image 1" descr="/home/ypf/motor_glove/docs/figs/papers/artglove_teas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2212848"/>
            <a:ext cx="5486400" cy="21305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0936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Lin &amp; Zhao, "ART-Glove," arXiv:2606.16370, Fig. 1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461772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16 rigid plates, 22 encoder-measured joints aligned to anatomical joints, 2048 taxels at 120 Hz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Kapandji 10/10: the hand is almost unconstrained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Measurement only: no robot, no policy; normal force only, one size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</a:rPr>
              <a:t>Future work in the paper: an actuated hand built on the glove geometry — our direction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823960" y="9144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915400" y="914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DexUMI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9811512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①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9994392" y="17373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994392" y="173736"/>
            <a:ext cx="219456" cy="219456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296144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②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0479024" y="17373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479024" y="173736"/>
            <a:ext cx="219456" cy="219456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780776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③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0963656" y="173736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0963656" y="173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25" name="Text 20"/>
          <p:cNvSpPr txBox="1"/>
          <p:nvPr/>
        </p:nvSpPr>
        <p:spPr>
          <a:xfrm>
            <a:off x="11265408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④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1448288" y="173736"/>
            <a:ext cx="219456" cy="219456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1448288" y="173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✗</a:t>
            </a:r>
            <a:endParaRPr lang="en-US" sz="864" dirty="0"/>
          </a:p>
        </p:txBody>
      </p:sp>
      <p:sp>
        <p:nvSpPr>
          <p:cNvPr id="28" name="Shape 23"/>
          <p:cNvSpPr/>
          <p:nvPr/>
        </p:nvSpPr>
        <p:spPr>
          <a:xfrm>
            <a:off x="8823960" y="530352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915400" y="5303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ART-Glove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9811512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①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994392" y="612648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994392" y="612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33" name="Text 28"/>
          <p:cNvSpPr txBox="1"/>
          <p:nvPr/>
        </p:nvSpPr>
        <p:spPr>
          <a:xfrm>
            <a:off x="10296144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②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0479024" y="612648"/>
            <a:ext cx="219456" cy="219456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0479024" y="612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✗</a:t>
            </a:r>
            <a:endParaRPr lang="en-US" sz="864" dirty="0"/>
          </a:p>
        </p:txBody>
      </p:sp>
      <p:sp>
        <p:nvSpPr>
          <p:cNvPr id="36" name="Text 31"/>
          <p:cNvSpPr txBox="1"/>
          <p:nvPr/>
        </p:nvSpPr>
        <p:spPr>
          <a:xfrm>
            <a:off x="10780776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③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10963656" y="612648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10963656" y="612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39" name="Text 34"/>
          <p:cNvSpPr txBox="1"/>
          <p:nvPr/>
        </p:nvSpPr>
        <p:spPr>
          <a:xfrm>
            <a:off x="11265408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④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1448288" y="612648"/>
            <a:ext cx="219456" cy="219456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1448288" y="612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✗</a:t>
            </a:r>
            <a:endParaRPr lang="en-US" sz="864" dirty="0"/>
          </a:p>
        </p:txBody>
      </p:sp>
      <p:sp>
        <p:nvSpPr>
          <p:cNvPr id="42" name="Text 37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Real contact in both, but the human feels the object; the robot never does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DITTO / DITTO-X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DITTO closes the loop with an equivalent leader; DITTO-X trades isomorphism for generality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The closest work to ours: joint-level force feedback from follower current, then one exoskeleton for three hands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8745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DITTO (2026-09): 1:1 KINEMATICS, 7 DoF</a:t>
            </a:r>
            <a:endParaRPr lang="en-US" sz="1400" dirty="0"/>
          </a:p>
        </p:txBody>
      </p:sp>
      <p:pic>
        <p:nvPicPr>
          <p:cNvPr id="7" name="Image 0" descr="/home/ypf/motor_glove/docs/figs/papers/ditto_tea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212848"/>
            <a:ext cx="5486400" cy="2011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4233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DITTO, arXiv:2609.19196, Fig. 1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5079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Leader and follower kinematically equivalent: thumb 4 + index 3, 1:1 motor mapping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Joint-level force feedback from follower current, 200 Hz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</a:rPr>
              <a:t>With feedback, users apply about half the contact force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18745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DITTO-X (2026-10): ONE EXOSKELETON, THREE HANDS</a:t>
            </a:r>
            <a:endParaRPr lang="en-US" sz="1400" dirty="0"/>
          </a:p>
        </p:txBody>
      </p:sp>
      <p:pic>
        <p:nvPicPr>
          <p:cNvPr id="11" name="Image 1" descr="/home/ypf/motor_glove/docs/figs/papers/dittox_teas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2212848"/>
            <a:ext cx="5486400" cy="1600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0936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DITTO-X, arXiv:2610.00781, Fig. 1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41148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Index and middle 1:1; thumb retargeted in task space, force via Jacobian pseudo-inverse; ring and pinky coupled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Force feedback + fingertip vibration are complementary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Reverse teleoperation: take over a running policy; DAgger improves over two rounds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309360" y="5349240"/>
            <a:ext cx="2651760" cy="7772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309360" y="5404104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86.1 % vs 61.1 %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6382512" y="5753405"/>
            <a:ext cx="250545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size discrimination, both channels vs either alone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098280" y="5349240"/>
            <a:ext cx="2697480" cy="7772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098280" y="5404104"/>
            <a:ext cx="2697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78.3 % vs 27.7 %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171432" y="5753405"/>
            <a:ext cx="255117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takeover success, DITTO-X vs Manus glove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823960" y="9144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915400" y="914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DITTO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9811512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①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994392" y="17373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994392" y="173736"/>
            <a:ext cx="219456" cy="219456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296144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②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0479024" y="173736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479024" y="173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28" name="Text 23"/>
          <p:cNvSpPr txBox="1"/>
          <p:nvPr/>
        </p:nvSpPr>
        <p:spPr>
          <a:xfrm>
            <a:off x="10780776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③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10963656" y="173736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0963656" y="173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31" name="Text 26"/>
          <p:cNvSpPr txBox="1"/>
          <p:nvPr/>
        </p:nvSpPr>
        <p:spPr>
          <a:xfrm>
            <a:off x="11265408" y="9144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④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1448288" y="173736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1448288" y="173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34" name="Shape 29"/>
          <p:cNvSpPr/>
          <p:nvPr/>
        </p:nvSpPr>
        <p:spPr>
          <a:xfrm>
            <a:off x="8823960" y="530352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915400" y="5303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DITTO-X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9811512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①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994392" y="612648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994392" y="612648"/>
            <a:ext cx="219456" cy="219456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296144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②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0479024" y="612648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0479024" y="612648"/>
            <a:ext cx="219456" cy="219456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10780776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③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10963656" y="612648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10963656" y="612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45" name="Text 40"/>
          <p:cNvSpPr txBox="1"/>
          <p:nvPr/>
        </p:nvSpPr>
        <p:spPr>
          <a:xfrm>
            <a:off x="11265408" y="5303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④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11448288" y="612648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1448288" y="612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48" name="Shape 43"/>
          <p:cNvSpPr/>
          <p:nvPr/>
        </p:nvSpPr>
        <p:spPr>
          <a:xfrm>
            <a:off x="411480" y="5349240"/>
            <a:ext cx="2651760" cy="7772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411480" y="5404104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0 % → 70 %</a:t>
            </a:r>
            <a:endParaRPr lang="en-US" sz="2200" dirty="0"/>
          </a:p>
        </p:txBody>
      </p:sp>
      <p:sp>
        <p:nvSpPr>
          <p:cNvPr id="50" name="Text 45"/>
          <p:cNvSpPr txBox="1"/>
          <p:nvPr/>
        </p:nvSpPr>
        <p:spPr>
          <a:xfrm>
            <a:off x="484632" y="5753405"/>
            <a:ext cx="250545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handheld-only data vs +10 teleop episodes at hold &amp; lift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3246120" y="5349240"/>
            <a:ext cx="2651760" cy="7772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246120" y="5404104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6.9 N vs 13.0 N</a:t>
            </a:r>
            <a:endParaRPr lang="en-US" sz="2200" dirty="0"/>
          </a:p>
        </p:txBody>
      </p:sp>
      <p:sp>
        <p:nvSpPr>
          <p:cNvPr id="53" name="Text 48"/>
          <p:cNvSpPr txBox="1"/>
          <p:nvPr/>
        </p:nvSpPr>
        <p:spPr>
          <a:xfrm>
            <a:off x="3319272" y="5753405"/>
            <a:ext cx="250545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contact force with vs without force feedback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Generality cost isomorphism. We take the other end of that trade-off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Our Position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Design the glove around the human hand, then derive an identical robot hand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Human-first and fully isomorphic: every one of the 13 joints maps 1:1, so force, takeover and data need no retargeting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463040"/>
                <a:gridCol w="1234440"/>
                <a:gridCol w="1325880"/>
                <a:gridCol w="1188720"/>
                <a:gridCol w="1691640"/>
                <a:gridCol w="17190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UMI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DexUMI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ART-Glove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MILE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DITTO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DITTO-X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Ours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C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</a:rPr>
                        <a:t>Dexterity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parallel gripper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Inspire 6 active / XHand 12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22 DoF measured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4 fingers, 17 DoF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2 fingers, 7 DoF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3 fingers (~9 motors)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4 fingers, 13 DoF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</a:rPr>
                        <a:t>Correspondence to the robot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identical gripper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fingertips only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none (retargeting)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1:1, exoskeleton first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1:1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index, middle 1:1; thumb retargeted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all 13 joints 1:1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</a:rPr>
                        <a:t>What the operator feels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real contact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real contact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real contact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nothing (tactile on screen)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rendered joint force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joint force + fingertip vibration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rendered joint force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</a:rPr>
                        <a:t>Robot in the loop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yes, reverse teleop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 (sim / glove #2; robot hand next)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</a:rPr>
                        <a:t>Policy results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yes, 86 % avg.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yes, 76 % avg.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yes, with DAgger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not yet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11480" y="4617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GENERALITY ⟷ FIDELITY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5440680"/>
            <a:ext cx="44805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headEnd type="triangle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1417320" y="5340096"/>
            <a:ext cx="201168" cy="201168"/>
          </a:xfrm>
          <a:prstGeom prst="ellipse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34840" y="5340096"/>
            <a:ext cx="201168" cy="201168"/>
          </a:xfrm>
          <a:prstGeom prst="ellipse">
            <a:avLst/>
          </a:prstGeom>
          <a:solidFill>
            <a:srgbClr val="1A73C7"/>
          </a:solidFill>
          <a:ln w="12700">
            <a:solidFill>
              <a:srgbClr val="1A73C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5596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DITTO-X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one exoskeleton, many hands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3703320" y="5596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C7"/>
                </a:solidFill>
              </a:rPr>
              <a:t>Ours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73C7"/>
                </a:solidFill>
              </a:rPr>
              <a:t>one pair, all 13 joints 1:1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5074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generality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5074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fidelity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46177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WHAT ISOMORPHISM BUYS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4956048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Force feedback joint-to-joint: no estimation, no retargeting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Reverse teleop is exact: write joint angles, no inverse kinematics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The simulation twin is the robot itself; recorded data needs no retargeting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</a:rPr>
              <a:t>Closest pair: MILE (SJTU 2025) also builds the hand from a 17-DoF exoskeleton, but the exoskeleton is passive: no force to the operator. Ours puts motors in the glove → bilateral feedback, stiffness as action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Same idea as isomorphic leader arms (GELLO, HOMIE), taken to a 13-joint hand. Cost: we must build the hand ourselves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Why a glove is hard to wear: the hand leaves little room where the glove needs it most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Four constraints that shaped the 13-joint layout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874520"/>
            <a:ext cx="2743200" cy="23317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7" name="Image 0" descr="/home/ypf/motor_glove/docs/figs/ppt/rcm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938528"/>
            <a:ext cx="2560320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4315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Joint axes are hidden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663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The MCP axis lies under the skin, so the motor cannot sit on it. A double parallelogram puts a virtual axis there while the motor stays outside the finger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Our middle-finger MCP, 0° / 30° / 60° overlay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91840" y="1874520"/>
            <a:ext cx="2743200" cy="23317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mage 1" descr="/home/ypf/motor_glove/docs/figs/ppt/rom_overlay_thumb_si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1938528"/>
            <a:ext cx="2560320" cy="21945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91840" y="4315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The thumb sweeps wide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291840" y="4663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From open to opposition the thumb needs abduction, flexion and two more joints: four motors on the thumb alone, mounted to clear the palm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329184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Our CAD, open / half / fist overlay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172200" y="1874520"/>
            <a:ext cx="2743200" cy="23317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7" name="Image 2" descr="/home/ypf/motor_glove/docs/figs/ppt/modules_cropp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63640" y="1938528"/>
            <a:ext cx="2560320" cy="21945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72200" y="4315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No room between fingers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172200" y="4663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Three finger modules sit side by side on the dorsal base; linkages and motors must clear their neighbours through the whole range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617220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Our CAD, one colour per finger module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052560" y="1874520"/>
            <a:ext cx="2743200" cy="23317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22" name="Image 3" descr="/home/ypf/motor_glove/docs/figs/ppt/cad_dors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0" y="1938528"/>
            <a:ext cx="2560320" cy="21945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052560" y="4315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Hands differ in size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9052560" y="4663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DexEXO models hand lengths of 140–217 mm. Our glove is one size today; sizing is on the limitations slide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905256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</a:rPr>
              <a:t>DexEXO, arXiv 2603.17323</a:t>
            </a:r>
            <a:endParaRPr lang="en-US" sz="950" dirty="0"/>
          </a:p>
        </p:txBody>
      </p:sp>
      <p:sp>
        <p:nvSpPr>
          <p:cNvPr id="26" name="Text 19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Every one of these shows up again on the next slide as a design decision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13 joints, four fingers, every axis where the human joint is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Thumb 4 + index / middle / ring 3 each; a double-parallelogram MCP puts the middle-finger axis inside the finger</a:t>
            </a:r>
            <a:endParaRPr lang="en-US" sz="1400" dirty="0"/>
          </a:p>
        </p:txBody>
      </p:sp>
      <p:pic>
        <p:nvPicPr>
          <p:cNvPr id="6" name="Image 0" descr="/home/ypf/motor_glove/docs/figs/skeleton_zero_palm_front_nome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783080"/>
            <a:ext cx="5120640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5623560"/>
            <a:ext cx="4389120" cy="502920"/>
          </a:xfrm>
          <a:prstGeom prst="rect">
            <a:avLst/>
          </a:prstGeom>
          <a:solidFill>
            <a:srgbClr val="EDEEF0"/>
          </a:solidFill>
          <a:ln w="9525">
            <a:solidFill>
              <a:srgbClr val="D0D3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623560"/>
            <a:ext cx="4389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Skeleton of the glove: red = flexion axes, blue = abduction / opposition, numbers = motor IDs</a:t>
            </a:r>
            <a:endParaRPr lang="en-US" sz="1200" dirty="0"/>
          </a:p>
        </p:txBody>
      </p:sp>
      <p:pic>
        <p:nvPicPr>
          <p:cNvPr id="9" name="Image 1" descr="/home/ypf/motor_glove/docs/figs/ppt/rcm_cropp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783080"/>
            <a:ext cx="3200400" cy="239572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60720" y="4206240"/>
            <a:ext cx="3200400" cy="502920"/>
          </a:xfrm>
          <a:prstGeom prst="rect">
            <a:avLst/>
          </a:prstGeom>
          <a:solidFill>
            <a:srgbClr val="EDEEF0"/>
          </a:solidFill>
          <a:ln w="9525">
            <a:solidFill>
              <a:srgbClr val="D0D3D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76072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Middle-finger MCP: 0° / 30° / 60° overlay, the red virtual axis never moves</a:t>
            </a:r>
            <a:endParaRPr lang="en-US" sz="1200" dirty="0"/>
          </a:p>
        </p:txBody>
      </p:sp>
      <p:pic>
        <p:nvPicPr>
          <p:cNvPr id="12" name="Image 2" descr="/home/ypf/motor_glove/docs/figs/ppt/modules_cropp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98280" y="1783080"/>
            <a:ext cx="2743200" cy="20574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098280" y="3886200"/>
            <a:ext cx="2743200" cy="411480"/>
          </a:xfrm>
          <a:prstGeom prst="rect">
            <a:avLst/>
          </a:prstGeom>
          <a:solidFill>
            <a:srgbClr val="EDEEF0"/>
          </a:solidFill>
          <a:ln w="9525">
            <a:solidFill>
              <a:srgbClr val="D0D3D8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09828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Thumb ID 1–4 · index 5–7 · middle 8–10 · ring 11–13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60720" y="48463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ACTUATION AND ELECTRONICS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760720" y="5193792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13 × DYNAMIXEL XL330; distal PIP / IP joints use 77.5:1 (easier to back-drive), others 288:1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OpenRB-150 bridge, 1 Mbps bus, 6 V pack, all 13 motors read and written at ≈ 220 Hz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Onshape → URDF / MuJoCo export is automated, closed chains included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Human-first: the glove is designed on the human hand, the robot hand is derived from 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Progress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It works: sim-in-the-loop force feedback and a two-glove bilateral pair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Position goes forward, force comes back, only in contact and only against penetration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874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1A73C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929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C7"/>
                </a:solidFill>
              </a:rPr>
              <a:t>Leader glove (worn)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13 × XL330, current mode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renders feedback torque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520440" y="1874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2F85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929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</a:rPr>
              <a:t>PC ≈ 220 Hz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MuJoCo twin or glove #2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τ = −kp(|e| − db)·sign(e)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29400" y="1874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C5303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29400" y="1929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Follower hand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position mode + current limit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blocked → error e grows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88920" y="2148840"/>
            <a:ext cx="731520" cy="9144"/>
          </a:xfrm>
          <a:prstGeom prst="line">
            <a:avLst/>
          </a:prstGeom>
          <a:noFill/>
          <a:ln w="22225">
            <a:solidFill>
              <a:srgbClr val="1A73C7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788920" y="1911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C7"/>
                </a:solidFill>
              </a:rPr>
              <a:t>q_L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97880" y="2148840"/>
            <a:ext cx="731520" cy="9144"/>
          </a:xfrm>
          <a:prstGeom prst="line">
            <a:avLst/>
          </a:prstGeom>
          <a:noFill/>
          <a:ln w="22225">
            <a:solidFill>
              <a:srgbClr val="1A73C7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5897880" y="1911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C7"/>
                </a:solidFill>
              </a:rPr>
              <a:t>q* = q_L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 flipH="1">
            <a:off x="5897880" y="2478024"/>
            <a:ext cx="731520" cy="9144"/>
          </a:xfrm>
          <a:prstGeom prst="line">
            <a:avLst/>
          </a:prstGeom>
          <a:noFill/>
          <a:ln w="22225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5897880" y="2514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3030"/>
                </a:solidFill>
              </a:rPr>
              <a:t>q_F, I_F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 flipH="1">
            <a:off x="2788920" y="2478024"/>
            <a:ext cx="731520" cy="9144"/>
          </a:xfrm>
          <a:prstGeom prst="line">
            <a:avLst/>
          </a:prstGeom>
          <a:noFill/>
          <a:ln w="22225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788920" y="2514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3030"/>
                </a:solidFill>
              </a:rPr>
              <a:t>I_L ← τ</a:t>
            </a:r>
            <a:endParaRPr lang="en-US" sz="8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11480" y="29260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24" name="Image 0" descr="/home/ypf/motor_glove/docs/figs/ppt/sim_grasp_op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2926080"/>
            <a:ext cx="2926080" cy="2194560"/>
          </a:xfrm>
          <a:prstGeom prst="rect">
            <a:avLst/>
          </a:prstGeom>
        </p:spPr>
      </p:pic>
      <p:pic>
        <p:nvPicPr>
          <p:cNvPr id="25" name="Image 1" descr="/home/ypf/motor_glove/docs/figs/ppt/sim_grasp_hol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69680" y="2926080"/>
            <a:ext cx="2926080" cy="219456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0" y="5138928"/>
            <a:ext cx="6035040" cy="384048"/>
          </a:xfrm>
          <a:prstGeom prst="rect">
            <a:avLst/>
          </a:prstGeom>
          <a:solidFill>
            <a:srgbClr val="EDEEF0"/>
          </a:solidFill>
          <a:ln w="9525">
            <a:solidFill>
              <a:srgbClr val="D0D3D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760720" y="5138928"/>
            <a:ext cx="60350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MuJoCo twin driven by the glove: open, then grasp and lift the cube 7.8 cm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760720" y="5623560"/>
            <a:ext cx="2926080" cy="640080"/>
          </a:xfrm>
          <a:prstGeom prst="rect">
            <a:avLst/>
          </a:prstGeom>
          <a:solidFill>
            <a:srgbClr val="F4F5F7"/>
          </a:solidFill>
          <a:ln w="12700">
            <a:solidFill>
              <a:srgbClr val="B8BCC4"/>
            </a:solidFill>
            <a:prstDash val="dash"/>
          </a:ln>
        </p:spPr>
      </p:sp>
      <p:sp>
        <p:nvSpPr>
          <p:cNvPr id="29" name="Text 23"/>
          <p:cNvSpPr txBox="1"/>
          <p:nvPr/>
        </p:nvSpPr>
        <p:spPr>
          <a:xfrm>
            <a:off x="5760720" y="5623560"/>
            <a:ext cx="292608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</a:rPr>
              <a:t>[VIDEO 1] glove drives the MuJoCo hand; the operator feels the cube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869680" y="5623560"/>
            <a:ext cx="2926080" cy="640080"/>
          </a:xfrm>
          <a:prstGeom prst="rect">
            <a:avLst/>
          </a:prstGeom>
          <a:solidFill>
            <a:srgbClr val="F4F5F7"/>
          </a:solidFill>
          <a:ln w="12700">
            <a:solidFill>
              <a:srgbClr val="B8BCC4"/>
            </a:solidFill>
            <a:prstDash val="dash"/>
          </a:ln>
        </p:spPr>
      </p:sp>
      <p:sp>
        <p:nvSpPr>
          <p:cNvPr id="31" name="Text 25"/>
          <p:cNvSpPr txBox="1"/>
          <p:nvPr/>
        </p:nvSpPr>
        <p:spPr>
          <a:xfrm>
            <a:off x="8869680" y="5623560"/>
            <a:ext cx="292608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</a:rPr>
              <a:t>[VIDEO 2] two gloves: follower pinches a cup → leader pushed back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281160" y="1874520"/>
            <a:ext cx="1234440" cy="86868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281160" y="1929384"/>
            <a:ext cx="1234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≈ 220 Hz</a:t>
            </a:r>
            <a:endParaRPr lang="en-US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9354312" y="2326234"/>
            <a:ext cx="108813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13 motors read + written (DITTO: 200 Hz)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10607040" y="1874520"/>
            <a:ext cx="1188720" cy="86868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0607040" y="1929384"/>
            <a:ext cx="1188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6E"/>
                </a:solidFill>
              </a:rPr>
              <a:t>0.06 N·m</a:t>
            </a:r>
            <a:endParaRPr lang="en-US" sz="2200" dirty="0"/>
          </a:p>
        </p:txBody>
      </p:sp>
      <p:sp>
        <p:nvSpPr>
          <p:cNvPr id="37" name="Text 31"/>
          <p:cNvSpPr txBox="1"/>
          <p:nvPr/>
        </p:nvSpPr>
        <p:spPr>
          <a:xfrm>
            <a:off x="10680192" y="2326234"/>
            <a:ext cx="104241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per-joint limit (DITTO: 0.08)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Force only in contact, only outward, with a 13-channel current budget and a 100 ms bus watchdog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Force &amp; Impedance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Every cycle we log command, result and force; stiffness itself can be an action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Three ways to turn the recorded force into supervision: observation, action, or impedance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87452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A73C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929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C7"/>
                </a:solidFill>
              </a:rPr>
              <a:t>Logged, 13 joints × 220 Hz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2402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q*  leader angle = command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q   follower angle = result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τ   follower current × Kt = contact torque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I   current rendered to the operator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K_t follower stiffness this cycle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11880" y="187452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2F85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19293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</a:rPr>
              <a:t>① Force as observation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70332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policy input += τ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current is available at deployment · FACTR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11880" y="283464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2F85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8895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</a:rPr>
              <a:t>② Force as action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action chunk = (q*, τ*)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hybrid position / force control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Goal Current is the action · Bi-ACT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92240" y="187452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C530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1929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③ Impedance as action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2402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action chunk = (q*, K_t)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τ_cmd = K(q* − q) + D(q̇* − q̇)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label K_t = f(τ_t): high force → soft (ACP rule)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XL330 P / D gains writable online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ACP, Comp-ACT, CompVLA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84080" y="1874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B3C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84080" y="1929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6E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875520" y="224028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isomorphic robot hand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same controller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</a:rPr>
              <a:t>no retargeting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46120" y="2313432"/>
            <a:ext cx="365760" cy="9144"/>
          </a:xfrm>
          <a:prstGeom prst="line">
            <a:avLst/>
          </a:prstGeom>
          <a:noFill/>
          <a:ln w="2222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246120" y="3264408"/>
            <a:ext cx="365760" cy="9144"/>
          </a:xfrm>
          <a:prstGeom prst="line">
            <a:avLst/>
          </a:prstGeom>
          <a:noFill/>
          <a:ln w="2222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26480" y="2788920"/>
            <a:ext cx="365760" cy="9144"/>
          </a:xfrm>
          <a:prstGeom prst="line">
            <a:avLst/>
          </a:prstGeom>
          <a:noFill/>
          <a:ln w="2222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418320" y="2788920"/>
            <a:ext cx="365760" cy="9144"/>
          </a:xfrm>
          <a:prstGeom prst="line">
            <a:avLst/>
          </a:prstGeom>
          <a:noFill/>
          <a:ln w="2222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411480" y="3886200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MEASURED ON THE TWO-GLOVE PAIR: INDEX MCP PINCHING A PAPER CUP, Kp 150 vs 600, AND Kp SCHEDULED BY CONTACT CURRENT</a:t>
            </a:r>
            <a:endParaRPr lang="en-US" sz="1400" dirty="0"/>
          </a:p>
        </p:txBody>
      </p:sp>
      <p:pic>
        <p:nvPicPr>
          <p:cNvPr id="26" name="Image 0" descr="/home/ypf/motor_glove/docs/figs/ppt/stiffness_kp_p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4251960"/>
            <a:ext cx="3703320" cy="2057400"/>
          </a:xfrm>
          <a:prstGeom prst="rect">
            <a:avLst/>
          </a:prstGeom>
        </p:spPr>
      </p:pic>
      <p:pic>
        <p:nvPicPr>
          <p:cNvPr id="27" name="Image 1" descr="/home/ypf/motor_glove/docs/figs/ppt/stiffness_kp_p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4251960"/>
            <a:ext cx="3703320" cy="2057400"/>
          </a:xfrm>
          <a:prstGeom prst="rect">
            <a:avLst/>
          </a:prstGeom>
        </p:spPr>
      </p:pic>
      <p:pic>
        <p:nvPicPr>
          <p:cNvPr id="28" name="Image 2" descr="/home/ypf/motor_glove/docs/figs/ppt/stiffness_adaptive_p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0" y="4251960"/>
            <a:ext cx="3703320" cy="20574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Same pinch, same q*: 25 mN·m with Kp 150 vs 57 mN·m with Kp 600 — the robot's force is set by K, so K belongs in the action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" y="73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Outlook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11368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What is missing, and what we do next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490472"/>
            <a:ext cx="11368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The scorecard again, honestly: one half circle, and the plan to fill it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874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212848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No physical robot hand yet: feedback comes from the MuJoCo twin or glove #2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No user study, no policy results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No fingertip vibration (DITTO-X ablation: both channels needed)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No pinky, one glove size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Back-drive friction of 288:1 joints not quantified (DITTO chose 181:1)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Power: 5-cell NiMH drifts 5.0–7.0 V around the 3.7–6.0 V XL330 spec; one 12 V-class motor runs under-volted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874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84048" cy="384048"/>
          </a:xfrm>
          <a:prstGeom prst="ellipse">
            <a:avLst/>
          </a:prstGeom>
          <a:solidFill>
            <a:srgbClr val="0B3C6E"/>
          </a:solidFill>
          <a:ln w="12700">
            <a:solidFill>
              <a:srgbClr val="0B3C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434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286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Build the isomorphic robot hand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2907792"/>
            <a:ext cx="384048" cy="384048"/>
          </a:xfrm>
          <a:prstGeom prst="ellipse">
            <a:avLst/>
          </a:prstGeom>
          <a:solidFill>
            <a:srgbClr val="0B3C6E"/>
          </a:solidFill>
          <a:ln w="12700">
            <a:solidFill>
              <a:srgbClr val="0B3C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34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9077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Quantify and compensate back-drive friction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3529584"/>
            <a:ext cx="384048" cy="384048"/>
          </a:xfrm>
          <a:prstGeom prst="ellipse">
            <a:avLst/>
          </a:prstGeom>
          <a:solidFill>
            <a:srgbClr val="0B3C6E"/>
          </a:solidFill>
          <a:ln w="12700">
            <a:solidFill>
              <a:srgbClr val="0B3C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434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5295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Validate methods ① → ② → ③ on the real pair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4151376"/>
            <a:ext cx="384048" cy="384048"/>
          </a:xfrm>
          <a:prstGeom prst="ellipse">
            <a:avLst/>
          </a:prstGeom>
          <a:solidFill>
            <a:srgbClr val="0B3C6E"/>
          </a:solidFill>
          <a:ln w="12700">
            <a:solidFill>
              <a:srgbClr val="0B3C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434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41513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User study: force feedback on / off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43400" y="4773168"/>
            <a:ext cx="384048" cy="384048"/>
          </a:xfrm>
          <a:prstGeom prst="ellipse">
            <a:avLst/>
          </a:prstGeom>
          <a:solidFill>
            <a:srgbClr val="0B3C6E"/>
          </a:solidFill>
          <a:ln w="12700">
            <a:solidFill>
              <a:srgbClr val="0B3C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4340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773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Reverse teleoperation + DAgger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1874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C7"/>
                </a:solidFill>
              </a:rPr>
              <a:t>QUESTIONS FOR THE GROUP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221284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Gear ratio: transparency vs torque?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How many thumb DoF are worth it?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Should the pair also drive non-isomorphic hands?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321040" y="38862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A73C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39136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C7"/>
                </a:solidFill>
              </a:rPr>
              <a:t>Ours, today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430768" y="4187952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30768" y="4187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30" name="Text 27"/>
          <p:cNvSpPr txBox="1"/>
          <p:nvPr/>
        </p:nvSpPr>
        <p:spPr>
          <a:xfrm>
            <a:off x="868680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① Dexterous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0168128" y="4187952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168128" y="4187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33" name="Text 30"/>
          <p:cNvSpPr txBox="1"/>
          <p:nvPr/>
        </p:nvSpPr>
        <p:spPr>
          <a:xfrm>
            <a:off x="1042416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② No embodiment gap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8430768" y="4480560"/>
            <a:ext cx="219456" cy="21945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30768" y="4480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</a:rPr>
              <a:t>✓</a:t>
            </a:r>
            <a:endParaRPr lang="en-US" sz="864" dirty="0"/>
          </a:p>
        </p:txBody>
      </p:sp>
      <p:sp>
        <p:nvSpPr>
          <p:cNvPr id="36" name="Text 33"/>
          <p:cNvSpPr txBox="1"/>
          <p:nvPr/>
        </p:nvSpPr>
        <p:spPr>
          <a:xfrm>
            <a:off x="8686800" y="4462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③ Operator feels contact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10168128" y="448056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168128" y="4480560"/>
            <a:ext cx="219456" cy="219456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424160" y="4462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④ Robot in the loop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32104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</a:rPr>
              <a:t>④ becomes ✓ the day the robot hand exists</a:t>
            </a:r>
            <a:endParaRPr lang="en-US" sz="1000" dirty="0"/>
          </a:p>
        </p:txBody>
      </p:sp>
      <p:pic>
        <p:nvPicPr>
          <p:cNvPr id="41" name="Image 0" descr="/home/ypf/motor_glove/docs/figs/ppt/cad_dors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5166360"/>
            <a:ext cx="3474720" cy="114300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41148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6E"/>
                </a:solidFill>
              </a:rPr>
              <a:t>Ongoing work with E. Adelson · exploring broader collaboration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ve Lab Meeting">
  <a:themeElements>
    <a:clrScheme name="Glove Lab Meeting">
      <a:dk1>
        <a:srgbClr val="111111"/>
      </a:dk1>
      <a:lt1>
        <a:srgbClr val="FFFFFF"/>
      </a:lt1>
      <a:dk2>
        <a:srgbClr val="0B3C6E"/>
      </a:dk2>
      <a:lt2>
        <a:srgbClr val="EDEEF0"/>
      </a:lt2>
      <a:accent1>
        <a:srgbClr val="1A73C7"/>
      </a:accent1>
      <a:accent2>
        <a:srgbClr val="7A7A7A"/>
      </a:accent2>
      <a:accent3>
        <a:srgbClr val="2F855A"/>
      </a:accent3>
      <a:accent4>
        <a:srgbClr val="D69E2E"/>
      </a:accent4>
      <a:accent5>
        <a:srgbClr val="C53030"/>
      </a:accent5>
      <a:accent6>
        <a:srgbClr val="E8F1FB"/>
      </a:accent6>
      <a:hlink>
        <a:srgbClr val="1A73C7"/>
      </a:hlink>
      <a:folHlink>
        <a:srgbClr val="7A7A7A"/>
      </a:folHlink>
    </a:clrScheme>
    <a:fontScheme name="Glove Lab Meet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Isomorphic Force-Feedback Glove</dc:title>
  <dc:subject>PptxGenJS Presentation</dc:subject>
  <dc:creator>Pengfei Ye</dc:creator>
  <cp:lastModifiedBy>Pengfei Ye</cp:lastModifiedBy>
  <cp:revision>1</cp:revision>
  <dcterms:created xsi:type="dcterms:W3CDTF">2026-10-15T18:59:57Z</dcterms:created>
  <dcterms:modified xsi:type="dcterms:W3CDTF">2026-10-15T18:59:57Z</dcterms:modified>
</cp:coreProperties>
</file>